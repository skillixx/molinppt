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E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80"/>
          </a:solidFill>
          <a:ln w="7620">
            <a:solidFill>
              <a:srgbClr val="1F4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5508C"/>
          </a:solidFill>
          <a:ln w="7620">
            <a:solidFill>
              <a:srgbClr val="25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83058"/>
          </a:solidFill>
          <a:ln w="7620">
            <a:solidFill>
              <a:srgbClr val="18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0" y="1234440"/>
            <a:ext cx="420624" cy="2560320"/>
          </a:xfrm>
          <a:prstGeom prst="rect">
            <a:avLst/>
          </a:prstGeom>
          <a:solidFill>
            <a:srgbClr val="3A67A6"/>
          </a:solidFill>
          <a:ln w="7620">
            <a:solidFill>
              <a:srgbClr val="3A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93608" y="1801368"/>
            <a:ext cx="420624" cy="2377439"/>
          </a:xfrm>
          <a:prstGeom prst="rect">
            <a:avLst/>
          </a:prstGeom>
          <a:solidFill>
            <a:srgbClr val="3A67A6"/>
          </a:solidFill>
          <a:ln w="7620">
            <a:solidFill>
              <a:srgbClr val="3A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51976" y="2368296"/>
            <a:ext cx="420624" cy="2194560"/>
          </a:xfrm>
          <a:prstGeom prst="rect">
            <a:avLst/>
          </a:prstGeom>
          <a:solidFill>
            <a:srgbClr val="3A67A6"/>
          </a:solidFill>
          <a:ln w="7620">
            <a:solidFill>
              <a:srgbClr val="3A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10344" y="1234440"/>
            <a:ext cx="420624" cy="2011679"/>
          </a:xfrm>
          <a:prstGeom prst="rect">
            <a:avLst/>
          </a:prstGeom>
          <a:solidFill>
            <a:srgbClr val="3A67A6"/>
          </a:solidFill>
          <a:ln w="7620">
            <a:solidFill>
              <a:srgbClr val="3A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68712" y="1801368"/>
            <a:ext cx="420624" cy="1828799"/>
          </a:xfrm>
          <a:prstGeom prst="rect">
            <a:avLst/>
          </a:prstGeom>
          <a:solidFill>
            <a:srgbClr val="3A67A6"/>
          </a:solidFill>
          <a:ln w="7620">
            <a:solidFill>
              <a:srgbClr val="3A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27080" y="2368296"/>
            <a:ext cx="420624" cy="1645919"/>
          </a:xfrm>
          <a:prstGeom prst="rect">
            <a:avLst/>
          </a:prstGeom>
          <a:solidFill>
            <a:srgbClr val="3A67A6"/>
          </a:solidFill>
          <a:ln w="7620">
            <a:solidFill>
              <a:srgbClr val="3A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85448" y="1234440"/>
            <a:ext cx="420624" cy="1463039"/>
          </a:xfrm>
          <a:prstGeom prst="rect">
            <a:avLst/>
          </a:prstGeom>
          <a:solidFill>
            <a:srgbClr val="3A67A6"/>
          </a:solidFill>
          <a:ln w="7620">
            <a:solidFill>
              <a:srgbClr val="3A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95360" y="2331720"/>
            <a:ext cx="2057400" cy="2057400"/>
          </a:xfrm>
          <a:prstGeom prst="ellipse">
            <a:avLst/>
          </a:prstGeom>
          <a:solidFill>
            <a:srgbClr val="4576B2"/>
          </a:solidFill>
          <a:ln>
            <a:solidFill>
              <a:srgbClr val="6E9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35440" y="2752344"/>
            <a:ext cx="1481328" cy="1481328"/>
          </a:xfrm>
          <a:prstGeom prst="ellipse">
            <a:avLst/>
          </a:prstGeom>
          <a:solidFill>
            <a:srgbClr val="4576B2"/>
          </a:solidFill>
          <a:ln>
            <a:solidFill>
              <a:srgbClr val="6E9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0" y="3172968"/>
            <a:ext cx="960120" cy="960120"/>
          </a:xfrm>
          <a:prstGeom prst="ellipse">
            <a:avLst/>
          </a:prstGeom>
          <a:solidFill>
            <a:srgbClr val="4576B2"/>
          </a:solidFill>
          <a:ln>
            <a:solidFill>
              <a:srgbClr val="6E9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594360" y="4956048"/>
            <a:ext cx="1234440" cy="640080"/>
          </a:xfrm>
          <a:prstGeom prst="line">
            <a:avLst/>
          </a:prstGeom>
          <a:ln w="20320">
            <a:solidFill>
              <a:srgbClr val="79A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011680" y="4700016"/>
            <a:ext cx="1234440" cy="731520"/>
          </a:xfrm>
          <a:prstGeom prst="line">
            <a:avLst/>
          </a:prstGeom>
          <a:ln w="20320">
            <a:solidFill>
              <a:srgbClr val="79A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429000" y="4443983"/>
            <a:ext cx="1234440" cy="822961"/>
          </a:xfrm>
          <a:prstGeom prst="line">
            <a:avLst/>
          </a:prstGeom>
          <a:ln w="20320">
            <a:solidFill>
              <a:srgbClr val="79A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846320" y="4187952"/>
            <a:ext cx="1234440" cy="914400"/>
          </a:xfrm>
          <a:prstGeom prst="line">
            <a:avLst/>
          </a:prstGeom>
          <a:ln w="20320">
            <a:solidFill>
              <a:srgbClr val="79A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263640" y="3931920"/>
            <a:ext cx="1234439" cy="1005840"/>
          </a:xfrm>
          <a:prstGeom prst="line">
            <a:avLst/>
          </a:prstGeom>
          <a:ln w="20320">
            <a:solidFill>
              <a:srgbClr val="79A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1335024"/>
            <a:ext cx="53035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4D8EF"/>
                </a:solidFill>
                <a:latin typeface="Microsoft YaHei"/>
              </a:rPr>
              <a:t>HIGH-END DATA 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700784"/>
            <a:ext cx="5669280" cy="1417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Microsoft YaHei"/>
              </a:rPr>
              <a:t>高端数据
可视化图表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246120"/>
            <a:ext cx="53035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1EBF7"/>
                </a:solidFill>
                <a:latin typeface="Microsoft YaHei"/>
              </a:rPr>
              <a:t>述职演讲汇报 · 年度经营分析 · 区域销售复盘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13632"/>
            <a:ext cx="1325880" cy="384048"/>
          </a:xfrm>
          <a:prstGeom prst="roundRect">
            <a:avLst/>
          </a:prstGeom>
          <a:solidFill>
            <a:srgbClr val="D65041"/>
          </a:solidFill>
          <a:ln w="7620">
            <a:solidFill>
              <a:srgbClr val="D65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014215"/>
            <a:ext cx="86868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均可编辑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21408" y="3913632"/>
            <a:ext cx="1325880" cy="384048"/>
          </a:xfrm>
          <a:prstGeom prst="roundRect">
            <a:avLst/>
          </a:prstGeom>
          <a:solidFill>
            <a:srgbClr val="4681BE"/>
          </a:solidFill>
          <a:ln w="7620">
            <a:solidFill>
              <a:srgbClr val="468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2576" y="4014215"/>
            <a:ext cx="86868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图表看板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02736" y="3913632"/>
            <a:ext cx="1325880" cy="384048"/>
          </a:xfrm>
          <a:prstGeom prst="roundRect">
            <a:avLst/>
          </a:prstGeom>
          <a:solidFill>
            <a:srgbClr val="215D9C"/>
          </a:solidFill>
          <a:ln w="7620">
            <a:solidFill>
              <a:srgbClr val="21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03904" y="4014215"/>
            <a:ext cx="86868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商务汇报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4462272"/>
            <a:ext cx="4160520" cy="987552"/>
          </a:xfrm>
          <a:prstGeom prst="roundRect">
            <a:avLst/>
          </a:prstGeom>
          <a:solidFill>
            <a:srgbClr val="F4F7FB"/>
          </a:solidFill>
          <a:ln w="7620">
            <a:solidFill>
              <a:srgbClr val="C2D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4681728"/>
            <a:ext cx="173736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D3E6E"/>
                </a:solidFill>
                <a:latin typeface="Microsoft YaHei"/>
              </a:rPr>
              <a:t>2024 DATA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4992624"/>
            <a:ext cx="20574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2D41"/>
                </a:solidFill>
                <a:latin typeface="Microsoft YaHei"/>
              </a:rPr>
              <a:t>销售 / 区域 / 产品 / 客户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5508C"/>
          </a:solidFill>
          <a:ln w="7620">
            <a:solidFill>
              <a:srgbClr val="25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62179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高端数据可视化图表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566928"/>
            <a:ext cx="2560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述职演讲汇报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566928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√ 均可编辑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566928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陇小七</a:t>
            </a:r>
          </a:p>
        </p:txBody>
      </p:sp>
      <p:sp>
        <p:nvSpPr>
          <p:cNvPr id="7" name="Oval 6"/>
          <p:cNvSpPr/>
          <p:nvPr/>
        </p:nvSpPr>
        <p:spPr>
          <a:xfrm>
            <a:off x="11356848" y="109728"/>
            <a:ext cx="566928" cy="566928"/>
          </a:xfrm>
          <a:prstGeom prst="ellipse">
            <a:avLst/>
          </a:prstGeom>
          <a:solidFill>
            <a:srgbClr val="DAE5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" y="1225296"/>
            <a:ext cx="11942064" cy="5303520"/>
          </a:xfrm>
          <a:prstGeom prst="rect">
            <a:avLst/>
          </a:prstGeom>
          <a:solidFill>
            <a:srgbClr val="FFFFFF"/>
          </a:solidFill>
          <a:ln w="762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261872"/>
            <a:ext cx="1920240" cy="310896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Triangle 9"/>
          <p:cNvSpPr/>
          <p:nvPr/>
        </p:nvSpPr>
        <p:spPr>
          <a:xfrm>
            <a:off x="1975104" y="1261872"/>
            <a:ext cx="256032" cy="310896"/>
          </a:xfrm>
          <a:prstGeom prst="rtTriangle">
            <a:avLst/>
          </a:prstGeom>
          <a:solidFill>
            <a:srgbClr val="1D3E6E"/>
          </a:solidFill>
          <a:ln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316736"/>
            <a:ext cx="1371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数据分析PPT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719072"/>
            <a:ext cx="2834640" cy="292608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73936"/>
            <a:ext cx="20116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2024年销售基本情况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157984"/>
            <a:ext cx="1170432" cy="1170432"/>
          </a:xfrm>
          <a:prstGeom prst="ellipse">
            <a:avLst/>
          </a:prstGeom>
          <a:solidFill>
            <a:srgbClr val="FFFFFF"/>
          </a:solidFill>
          <a:ln>
            <a:solidFill>
              <a:srgbClr val="D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rc 14"/>
          <p:cNvSpPr/>
          <p:nvPr/>
        </p:nvSpPr>
        <p:spPr>
          <a:xfrm>
            <a:off x="685800" y="2203703"/>
            <a:ext cx="1078992" cy="1078992"/>
          </a:xfrm>
          <a:prstGeom prst="arc">
            <a:avLst/>
          </a:prstGeom>
          <a:ln w="6985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569464"/>
            <a:ext cx="87782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D3E6E"/>
                </a:solidFill>
                <a:latin typeface="Microsoft YaHei"/>
              </a:rPr>
              <a:t>35.28%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83280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677489"/>
                </a:solidFill>
                <a:latin typeface="Microsoft YaHei"/>
              </a:rPr>
              <a:t>较去年同期提升</a:t>
            </a:r>
          </a:p>
        </p:txBody>
      </p:sp>
      <p:sp>
        <p:nvSpPr>
          <p:cNvPr id="18" name="Oval 17"/>
          <p:cNvSpPr/>
          <p:nvPr/>
        </p:nvSpPr>
        <p:spPr>
          <a:xfrm>
            <a:off x="1965960" y="2157984"/>
            <a:ext cx="1170432" cy="1170432"/>
          </a:xfrm>
          <a:prstGeom prst="ellipse">
            <a:avLst/>
          </a:prstGeom>
          <a:solidFill>
            <a:srgbClr val="FFFFFF"/>
          </a:solidFill>
          <a:ln>
            <a:solidFill>
              <a:srgbClr val="D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>
            <a:off x="2011679" y="2203703"/>
            <a:ext cx="1078992" cy="1078992"/>
          </a:xfrm>
          <a:prstGeom prst="arc">
            <a:avLst/>
          </a:prstGeom>
          <a:ln w="6985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12264" y="2569464"/>
            <a:ext cx="877824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D3E6E"/>
                </a:solidFill>
                <a:latin typeface="Microsoft YaHei"/>
              </a:rPr>
              <a:t>60.99%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79" y="3383280"/>
            <a:ext cx="10972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677489"/>
                </a:solidFill>
                <a:latin typeface="Microsoft YaHei"/>
              </a:rPr>
              <a:t>用户数量增加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" y="3886200"/>
            <a:ext cx="3017520" cy="1353312"/>
          </a:xfrm>
          <a:prstGeom prst="rect">
            <a:avLst/>
          </a:prstGeom>
          <a:solidFill>
            <a:srgbClr val="FFFFFF"/>
          </a:solidFill>
          <a:ln w="7620"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986784"/>
            <a:ext cx="2011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D41"/>
                </a:solidFill>
                <a:latin typeface="Microsoft YaHei"/>
              </a:rPr>
              <a:t>男女客户占比（单位：%）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343400"/>
            <a:ext cx="73152" cy="347472"/>
          </a:xfrm>
          <a:prstGeom prst="roundRect">
            <a:avLst/>
          </a:prstGeom>
          <a:solidFill>
            <a:srgbClr val="315FA0"/>
          </a:solidFill>
          <a:ln w="762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4782312"/>
            <a:ext cx="73152" cy="347472"/>
          </a:xfrm>
          <a:prstGeom prst="round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61288" y="4343400"/>
            <a:ext cx="73152" cy="347472"/>
          </a:xfrm>
          <a:prstGeom prst="roundRect">
            <a:avLst/>
          </a:prstGeom>
          <a:solidFill>
            <a:srgbClr val="315FA0"/>
          </a:solidFill>
          <a:ln w="762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61288" y="4782312"/>
            <a:ext cx="73152" cy="347472"/>
          </a:xfrm>
          <a:prstGeom prst="round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62456" y="4343400"/>
            <a:ext cx="73152" cy="347472"/>
          </a:xfrm>
          <a:prstGeom prst="roundRect">
            <a:avLst/>
          </a:prstGeom>
          <a:solidFill>
            <a:srgbClr val="315FA0"/>
          </a:solidFill>
          <a:ln w="762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362456" y="4782312"/>
            <a:ext cx="73152" cy="347472"/>
          </a:xfrm>
          <a:prstGeom prst="round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563624" y="4343400"/>
            <a:ext cx="73152" cy="347472"/>
          </a:xfrm>
          <a:prstGeom prst="roundRect">
            <a:avLst/>
          </a:prstGeom>
          <a:solidFill>
            <a:srgbClr val="315FA0"/>
          </a:solidFill>
          <a:ln w="762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563624" y="4782312"/>
            <a:ext cx="73152" cy="347472"/>
          </a:xfrm>
          <a:prstGeom prst="round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764792" y="4343400"/>
            <a:ext cx="73152" cy="347472"/>
          </a:xfrm>
          <a:prstGeom prst="roundRect">
            <a:avLst/>
          </a:prstGeom>
          <a:solidFill>
            <a:srgbClr val="315FA0"/>
          </a:solidFill>
          <a:ln w="762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764792" y="4782312"/>
            <a:ext cx="73152" cy="347472"/>
          </a:xfrm>
          <a:prstGeom prst="round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965960" y="4343400"/>
            <a:ext cx="73152" cy="347472"/>
          </a:xfrm>
          <a:prstGeom prst="roundRect">
            <a:avLst/>
          </a:prstGeom>
          <a:solidFill>
            <a:srgbClr val="315FA0"/>
          </a:solidFill>
          <a:ln w="762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65960" y="4782312"/>
            <a:ext cx="73152" cy="347472"/>
          </a:xfrm>
          <a:prstGeom prst="round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167128" y="4343400"/>
            <a:ext cx="73152" cy="347472"/>
          </a:xfrm>
          <a:prstGeom prst="roundRect">
            <a:avLst/>
          </a:prstGeom>
          <a:solidFill>
            <a:srgbClr val="315FA0"/>
          </a:solidFill>
          <a:ln w="762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67128" y="4782312"/>
            <a:ext cx="73152" cy="347472"/>
          </a:xfrm>
          <a:prstGeom prst="round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368296" y="4343400"/>
            <a:ext cx="73152" cy="347472"/>
          </a:xfrm>
          <a:prstGeom prst="roundRect">
            <a:avLst/>
          </a:prstGeom>
          <a:solidFill>
            <a:srgbClr val="315FA0"/>
          </a:solidFill>
          <a:ln w="762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368296" y="4782312"/>
            <a:ext cx="73152" cy="347472"/>
          </a:xfrm>
          <a:prstGeom prst="roundRect">
            <a:avLst/>
          </a:prstGeom>
          <a:solidFill>
            <a:srgbClr val="C4CAD4"/>
          </a:solidFill>
          <a:ln w="7620">
            <a:solidFill>
              <a:srgbClr val="C4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69464" y="4343400"/>
            <a:ext cx="73152" cy="347472"/>
          </a:xfrm>
          <a:prstGeom prst="roundRect">
            <a:avLst/>
          </a:prstGeom>
          <a:solidFill>
            <a:srgbClr val="C4CAD4"/>
          </a:solidFill>
          <a:ln w="7620">
            <a:solidFill>
              <a:srgbClr val="C4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569464" y="4782312"/>
            <a:ext cx="73152" cy="347472"/>
          </a:xfrm>
          <a:prstGeom prst="roundRect">
            <a:avLst/>
          </a:prstGeom>
          <a:solidFill>
            <a:srgbClr val="C4CAD4"/>
          </a:solidFill>
          <a:ln w="7620">
            <a:solidFill>
              <a:srgbClr val="C4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70632" y="4343400"/>
            <a:ext cx="73152" cy="347472"/>
          </a:xfrm>
          <a:prstGeom prst="roundRect">
            <a:avLst/>
          </a:prstGeom>
          <a:solidFill>
            <a:srgbClr val="C4CAD4"/>
          </a:solidFill>
          <a:ln w="7620">
            <a:solidFill>
              <a:srgbClr val="C4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770632" y="4782312"/>
            <a:ext cx="73152" cy="347472"/>
          </a:xfrm>
          <a:prstGeom prst="roundRect">
            <a:avLst/>
          </a:prstGeom>
          <a:solidFill>
            <a:srgbClr val="C4CAD4"/>
          </a:solidFill>
          <a:ln w="7620">
            <a:solidFill>
              <a:srgbClr val="C4C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4370832"/>
            <a:ext cx="420624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男客户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3776" y="4279392"/>
            <a:ext cx="457200" cy="310896"/>
          </a:xfrm>
          <a:prstGeom prst="rect">
            <a:avLst/>
          </a:prstGeom>
          <a:solidFill>
            <a:srgbClr val="315FA0"/>
          </a:solidFill>
          <a:ln w="762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52928" y="4425696"/>
            <a:ext cx="38404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315FA0"/>
                </a:solidFill>
                <a:latin typeface="Microsoft YaHei"/>
              </a:rPr>
              <a:t>80%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" y="4718304"/>
            <a:ext cx="457200" cy="310896"/>
          </a:xfrm>
          <a:prstGeom prst="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4800600"/>
            <a:ext cx="420624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女客户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52928" y="4864608"/>
            <a:ext cx="384048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74D40"/>
                </a:solidFill>
                <a:latin typeface="Microsoft YaHei"/>
              </a:rPr>
              <a:t>65%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03320" y="1572768"/>
            <a:ext cx="3931920" cy="1965960"/>
          </a:xfrm>
          <a:prstGeom prst="rect">
            <a:avLst/>
          </a:prstGeom>
          <a:solidFill>
            <a:srgbClr val="FFFFFF"/>
          </a:solidFill>
          <a:ln w="762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86200" y="1709928"/>
            <a:ext cx="3529584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D41"/>
                </a:solidFill>
                <a:latin typeface="Microsoft YaHei"/>
              </a:rPr>
              <a:t>各产品销售数量（单位：件）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15618" y="2111106"/>
            <a:ext cx="282366" cy="1061861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88186" y="1946514"/>
            <a:ext cx="35551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695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88186" y="3227832"/>
            <a:ext cx="35551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产品A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03882" y="2506821"/>
            <a:ext cx="282366" cy="666146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6450" y="2342229"/>
            <a:ext cx="35551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436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6450" y="3227832"/>
            <a:ext cx="35551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产品B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92146" y="1973599"/>
            <a:ext cx="282366" cy="1199368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64714" y="1809007"/>
            <a:ext cx="35551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785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4714" y="3227832"/>
            <a:ext cx="35551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产品C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80410" y="2315839"/>
            <a:ext cx="282366" cy="857128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52978" y="2151247"/>
            <a:ext cx="35551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561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52978" y="3227832"/>
            <a:ext cx="35551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产品D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68674" y="1965960"/>
            <a:ext cx="282366" cy="1207007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41242" y="1801368"/>
            <a:ext cx="35551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790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41242" y="3227832"/>
            <a:ext cx="35551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产品E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56938" y="2419733"/>
            <a:ext cx="282366" cy="753234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29506" y="2255141"/>
            <a:ext cx="35551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493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29506" y="3227832"/>
            <a:ext cx="355518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产品F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03904" y="3749039"/>
            <a:ext cx="960120" cy="1975104"/>
          </a:xfrm>
          <a:prstGeom prst="roundRect">
            <a:avLst/>
          </a:prstGeom>
          <a:solidFill>
            <a:srgbClr val="315FA0"/>
          </a:solidFill>
          <a:ln w="762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95344" y="3858768"/>
            <a:ext cx="7772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陕西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50208" y="4160520"/>
            <a:ext cx="6858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目标金额
159万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50208" y="4626864"/>
            <a:ext cx="6858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达成金额
100万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50208" y="5120640"/>
            <a:ext cx="685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85%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901184" y="3749039"/>
            <a:ext cx="960120" cy="1975104"/>
          </a:xfrm>
          <a:prstGeom prst="roundRect">
            <a:avLst/>
          </a:prstGeom>
          <a:solidFill>
            <a:srgbClr val="376CAA"/>
          </a:solidFill>
          <a:ln w="7620">
            <a:solidFill>
              <a:srgbClr val="376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92624" y="3858768"/>
            <a:ext cx="7772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上海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47488" y="4160520"/>
            <a:ext cx="6858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目标金额
190万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47488" y="4626864"/>
            <a:ext cx="6858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达成金额
180万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7488" y="5120640"/>
            <a:ext cx="685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96%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98464" y="3749039"/>
            <a:ext cx="960120" cy="1975104"/>
          </a:xfrm>
          <a:prstGeom prst="round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89904" y="3858768"/>
            <a:ext cx="7772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北京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44768" y="4160520"/>
            <a:ext cx="6858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目标金额
200万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44768" y="4626864"/>
            <a:ext cx="6858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达成金额
182万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44768" y="5120640"/>
            <a:ext cx="685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95%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095744" y="3749039"/>
            <a:ext cx="960120" cy="1975104"/>
          </a:xfrm>
          <a:prstGeom prst="roundRect">
            <a:avLst/>
          </a:prstGeom>
          <a:solidFill>
            <a:srgbClr val="C15643"/>
          </a:solidFill>
          <a:ln w="7620">
            <a:solidFill>
              <a:srgbClr val="C15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87183" y="3858768"/>
            <a:ext cx="7772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深圳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42048" y="4160520"/>
            <a:ext cx="6858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目标金额
160万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42048" y="4626864"/>
            <a:ext cx="68580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达成金额
140万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42048" y="5120640"/>
            <a:ext cx="685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89%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25508C"/>
          </a:solidFill>
          <a:ln w="7620">
            <a:solidFill>
              <a:srgbClr val="25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73152"/>
            <a:ext cx="62179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高端数据可视化图表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566928"/>
            <a:ext cx="2560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述职演讲汇报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566928"/>
            <a:ext cx="1920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√ 均可编辑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566928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陇小七</a:t>
            </a:r>
          </a:p>
        </p:txBody>
      </p:sp>
      <p:sp>
        <p:nvSpPr>
          <p:cNvPr id="7" name="Oval 6"/>
          <p:cNvSpPr/>
          <p:nvPr/>
        </p:nvSpPr>
        <p:spPr>
          <a:xfrm>
            <a:off x="11356848" y="109728"/>
            <a:ext cx="566928" cy="566928"/>
          </a:xfrm>
          <a:prstGeom prst="ellipse">
            <a:avLst/>
          </a:prstGeom>
          <a:solidFill>
            <a:srgbClr val="DAE5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" y="1225296"/>
            <a:ext cx="11942064" cy="5303520"/>
          </a:xfrm>
          <a:prstGeom prst="rect">
            <a:avLst/>
          </a:prstGeom>
          <a:solidFill>
            <a:srgbClr val="FFFFFF"/>
          </a:solidFill>
          <a:ln w="762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298448"/>
            <a:ext cx="1920240" cy="310896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Triangle 9"/>
          <p:cNvSpPr/>
          <p:nvPr/>
        </p:nvSpPr>
        <p:spPr>
          <a:xfrm>
            <a:off x="1975104" y="1298448"/>
            <a:ext cx="256032" cy="310896"/>
          </a:xfrm>
          <a:prstGeom prst="rtTriangle">
            <a:avLst/>
          </a:prstGeom>
          <a:solidFill>
            <a:srgbClr val="1D3E6E"/>
          </a:solidFill>
          <a:ln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353312"/>
            <a:ext cx="13716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数据分析PPT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55648"/>
            <a:ext cx="2606040" cy="969264"/>
          </a:xfrm>
          <a:prstGeom prst="rect">
            <a:avLst/>
          </a:prstGeom>
          <a:solidFill>
            <a:srgbClr val="315FA0"/>
          </a:solidFill>
          <a:ln w="762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892807"/>
            <a:ext cx="109728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"/>
              </a:rPr>
              <a:t>华北区域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194560"/>
            <a:ext cx="19202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698,397元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1755648"/>
            <a:ext cx="2606040" cy="969264"/>
          </a:xfrm>
          <a:prstGeom prst="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1528" y="1892807"/>
            <a:ext cx="109728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"/>
              </a:rPr>
              <a:t>西北区域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194560"/>
            <a:ext cx="19202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874,638元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1755648"/>
            <a:ext cx="2606040" cy="969264"/>
          </a:xfrm>
          <a:prstGeom prst="rect">
            <a:avLst/>
          </a:prstGeom>
          <a:solidFill>
            <a:srgbClr val="315FA0"/>
          </a:solidFill>
          <a:ln w="762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3288" y="1892807"/>
            <a:ext cx="109728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"/>
              </a:rPr>
              <a:t>华南区域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33288" y="2194560"/>
            <a:ext cx="19202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974,574元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1755648"/>
            <a:ext cx="2606040" cy="969264"/>
          </a:xfrm>
          <a:prstGeom prst="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1892807"/>
            <a:ext cx="109728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"/>
              </a:rPr>
              <a:t>东北区域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2194560"/>
            <a:ext cx="19202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YaHei"/>
              </a:rPr>
              <a:t>1,954,663元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34640"/>
            <a:ext cx="2011680" cy="3127248"/>
          </a:xfrm>
          <a:prstGeom prst="rect">
            <a:avLst/>
          </a:prstGeom>
          <a:solidFill>
            <a:srgbClr val="FFFFFF"/>
          </a:solidFill>
          <a:ln w="762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834640"/>
            <a:ext cx="2011680" cy="310896"/>
          </a:xfrm>
          <a:prstGeom prst="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926080"/>
            <a:ext cx="64008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"/>
              </a:rPr>
              <a:t>收入来源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2926080"/>
            <a:ext cx="329184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Microsoft YaHei"/>
              </a:rPr>
              <a:t>金额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3310128"/>
            <a:ext cx="7315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1E2D41"/>
                </a:solidFill>
                <a:latin typeface="Microsoft YaHei"/>
              </a:rPr>
              <a:t>产品销售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310128"/>
            <a:ext cx="43891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00" b="0">
                <a:solidFill>
                  <a:srgbClr val="1E2D41"/>
                </a:solidFill>
                <a:latin typeface="Microsoft YaHei"/>
              </a:rPr>
              <a:t>53000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3639312"/>
            <a:ext cx="7315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1E2D41"/>
                </a:solidFill>
                <a:latin typeface="Microsoft YaHei"/>
              </a:rPr>
              <a:t>服务收入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3639312"/>
            <a:ext cx="43891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00" b="0">
                <a:solidFill>
                  <a:srgbClr val="1E2D41"/>
                </a:solidFill>
                <a:latin typeface="Microsoft YaHei"/>
              </a:rPr>
              <a:t>48700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3968496"/>
            <a:ext cx="7315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1E2D41"/>
                </a:solidFill>
                <a:latin typeface="Microsoft YaHei"/>
              </a:rPr>
              <a:t>会员订阅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968496"/>
            <a:ext cx="43891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00" b="0">
                <a:solidFill>
                  <a:srgbClr val="1E2D41"/>
                </a:solidFill>
                <a:latin typeface="Microsoft YaHei"/>
              </a:rPr>
              <a:t>44400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4297680"/>
            <a:ext cx="7315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1E2D41"/>
                </a:solidFill>
                <a:latin typeface="Microsoft YaHei"/>
              </a:rPr>
              <a:t>渠道返利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297680"/>
            <a:ext cx="43891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00" b="0">
                <a:solidFill>
                  <a:srgbClr val="1E2D41"/>
                </a:solidFill>
                <a:latin typeface="Microsoft YaHei"/>
              </a:rPr>
              <a:t>40100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4626864"/>
            <a:ext cx="7315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1E2D41"/>
                </a:solidFill>
                <a:latin typeface="Microsoft YaHei"/>
              </a:rPr>
              <a:t>广告营销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626864"/>
            <a:ext cx="43891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00" b="0">
                <a:solidFill>
                  <a:srgbClr val="1E2D41"/>
                </a:solidFill>
                <a:latin typeface="Microsoft YaHei"/>
              </a:rPr>
              <a:t>35800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4956048"/>
            <a:ext cx="7315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1E2D41"/>
                </a:solidFill>
                <a:latin typeface="Microsoft YaHei"/>
              </a:rPr>
              <a:t>售后收入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4956048"/>
            <a:ext cx="43891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00" b="0">
                <a:solidFill>
                  <a:srgbClr val="1E2D41"/>
                </a:solidFill>
                <a:latin typeface="Microsoft YaHei"/>
              </a:rPr>
              <a:t>31500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5285232"/>
            <a:ext cx="7315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1E2D41"/>
                </a:solidFill>
                <a:latin typeface="Microsoft YaHei"/>
              </a:rPr>
              <a:t>其他收入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5285232"/>
            <a:ext cx="43891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00" b="0">
                <a:solidFill>
                  <a:srgbClr val="1E2D41"/>
                </a:solidFill>
                <a:latin typeface="Microsoft YaHei"/>
              </a:rPr>
              <a:t>27200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87168" y="2834640"/>
            <a:ext cx="5047488" cy="2615184"/>
          </a:xfrm>
          <a:prstGeom prst="rect">
            <a:avLst/>
          </a:prstGeom>
          <a:solidFill>
            <a:srgbClr val="FFFFFF"/>
          </a:solidFill>
          <a:ln w="762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51760" y="2962656"/>
            <a:ext cx="16459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D41"/>
                </a:solidFill>
                <a:latin typeface="Microsoft YaHei"/>
              </a:rPr>
              <a:t>销售收入趋势与达成率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90088" y="4259334"/>
            <a:ext cx="201168" cy="632705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93592" y="4064655"/>
            <a:ext cx="201168" cy="827384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97096" y="4636524"/>
            <a:ext cx="201168" cy="255515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675298"/>
            <a:ext cx="201168" cy="1216741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04104" y="4234999"/>
            <a:ext cx="201168" cy="657040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07608" y="3967316"/>
            <a:ext cx="201168" cy="924723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11112" y="3383279"/>
            <a:ext cx="201168" cy="1508760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3090672" y="3520972"/>
            <a:ext cx="603504" cy="383516"/>
          </a:xfrm>
          <a:prstGeom prst="line">
            <a:avLst/>
          </a:prstGeom>
          <a:ln w="25400">
            <a:solidFill>
              <a:srgbClr val="B74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694176" y="3520972"/>
            <a:ext cx="603504" cy="105576"/>
          </a:xfrm>
          <a:prstGeom prst="line">
            <a:avLst/>
          </a:prstGeom>
          <a:ln w="25400">
            <a:solidFill>
              <a:srgbClr val="B74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97680" y="3626548"/>
            <a:ext cx="603504" cy="460028"/>
          </a:xfrm>
          <a:prstGeom prst="line">
            <a:avLst/>
          </a:prstGeom>
          <a:ln w="25400">
            <a:solidFill>
              <a:srgbClr val="B74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901184" y="4086576"/>
            <a:ext cx="603504" cy="227813"/>
          </a:xfrm>
          <a:prstGeom prst="line">
            <a:avLst/>
          </a:prstGeom>
          <a:ln w="25400">
            <a:solidFill>
              <a:srgbClr val="B74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504688" y="4019461"/>
            <a:ext cx="603504" cy="294928"/>
          </a:xfrm>
          <a:prstGeom prst="line">
            <a:avLst/>
          </a:prstGeom>
          <a:ln w="25400">
            <a:solidFill>
              <a:srgbClr val="B74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108192" y="3577909"/>
            <a:ext cx="603504" cy="441552"/>
          </a:xfrm>
          <a:prstGeom prst="line">
            <a:avLst/>
          </a:prstGeom>
          <a:ln w="25400">
            <a:solidFill>
              <a:srgbClr val="B74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3054096" y="3867912"/>
            <a:ext cx="73152" cy="73152"/>
          </a:xfrm>
          <a:prstGeom prst="ellipse">
            <a:avLst/>
          </a:prstGeom>
          <a:solidFill>
            <a:srgbClr val="FFFFFF"/>
          </a:solidFill>
          <a:ln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657600" y="3484396"/>
            <a:ext cx="73152" cy="73152"/>
          </a:xfrm>
          <a:prstGeom prst="ellipse">
            <a:avLst/>
          </a:prstGeom>
          <a:solidFill>
            <a:srgbClr val="FFFFFF"/>
          </a:solidFill>
          <a:ln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61104" y="3589972"/>
            <a:ext cx="73152" cy="73152"/>
          </a:xfrm>
          <a:prstGeom prst="ellipse">
            <a:avLst/>
          </a:prstGeom>
          <a:solidFill>
            <a:srgbClr val="FFFFFF"/>
          </a:solidFill>
          <a:ln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864608" y="4050000"/>
            <a:ext cx="73152" cy="73152"/>
          </a:xfrm>
          <a:prstGeom prst="ellipse">
            <a:avLst/>
          </a:prstGeom>
          <a:solidFill>
            <a:srgbClr val="FFFFFF"/>
          </a:solidFill>
          <a:ln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468112" y="4277813"/>
            <a:ext cx="73152" cy="73152"/>
          </a:xfrm>
          <a:prstGeom prst="ellipse">
            <a:avLst/>
          </a:prstGeom>
          <a:solidFill>
            <a:srgbClr val="FFFFFF"/>
          </a:solidFill>
          <a:ln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071616" y="3982885"/>
            <a:ext cx="73152" cy="73152"/>
          </a:xfrm>
          <a:prstGeom prst="ellipse">
            <a:avLst/>
          </a:prstGeom>
          <a:solidFill>
            <a:srgbClr val="FFFFFF"/>
          </a:solidFill>
          <a:ln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75120" y="3541333"/>
            <a:ext cx="73152" cy="73152"/>
          </a:xfrm>
          <a:prstGeom prst="ellipse">
            <a:avLst/>
          </a:prstGeom>
          <a:solidFill>
            <a:srgbClr val="FFFFFF"/>
          </a:solidFill>
          <a:ln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26679" y="2834640"/>
            <a:ext cx="3913632" cy="1298448"/>
          </a:xfrm>
          <a:prstGeom prst="rect">
            <a:avLst/>
          </a:prstGeom>
          <a:solidFill>
            <a:srgbClr val="FFFFFF"/>
          </a:solidFill>
          <a:ln w="762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73568" y="2926080"/>
            <a:ext cx="33375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D41"/>
                </a:solidFill>
                <a:latin typeface="Microsoft YaHei"/>
              </a:rPr>
              <a:t>各产品销售数量（单位：件）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57133" y="3559193"/>
            <a:ext cx="400507" cy="299574"/>
          </a:xfrm>
          <a:prstGeom prst="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29701" y="3394601"/>
            <a:ext cx="473659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688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29701" y="3913631"/>
            <a:ext cx="473659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一季度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91523" y="3479074"/>
            <a:ext cx="400507" cy="379693"/>
          </a:xfrm>
          <a:prstGeom prst="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64091" y="3314482"/>
            <a:ext cx="473659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872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4091" y="3913631"/>
            <a:ext cx="473659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二季度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25913" y="3452077"/>
            <a:ext cx="400507" cy="406690"/>
          </a:xfrm>
          <a:prstGeom prst="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98481" y="3287485"/>
            <a:ext cx="473659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934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98481" y="3913631"/>
            <a:ext cx="473659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三季度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660303" y="3182111"/>
            <a:ext cx="400507" cy="676656"/>
          </a:xfrm>
          <a:prstGeom prst="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632871" y="3017519"/>
            <a:ext cx="473659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1554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32871" y="3913631"/>
            <a:ext cx="473659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E2D41"/>
                </a:solidFill>
                <a:latin typeface="Microsoft YaHei"/>
              </a:rPr>
              <a:t>四季度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26679" y="4315968"/>
            <a:ext cx="3913632" cy="1645920"/>
          </a:xfrm>
          <a:prstGeom prst="rect">
            <a:avLst/>
          </a:prstGeom>
          <a:solidFill>
            <a:srgbClr val="FFFFFF"/>
          </a:solidFill>
          <a:ln w="762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Pie 78"/>
          <p:cNvSpPr/>
          <p:nvPr/>
        </p:nvSpPr>
        <p:spPr>
          <a:xfrm>
            <a:off x="8275320" y="4553712"/>
            <a:ext cx="1508760" cy="1143000"/>
          </a:xfrm>
          <a:prstGeom prst="pie">
            <a:avLst/>
          </a:prstGeom>
          <a:solidFill>
            <a:srgbClr val="315F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966960" y="4572000"/>
            <a:ext cx="10058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D41"/>
                </a:solidFill>
                <a:latin typeface="Microsoft YaHei"/>
              </a:rPr>
              <a:t>区域收入结构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966960" y="4892040"/>
            <a:ext cx="146304" cy="109728"/>
          </a:xfrm>
          <a:prstGeom prst="rect">
            <a:avLst/>
          </a:prstGeom>
          <a:solidFill>
            <a:srgbClr val="315FA0"/>
          </a:solidFill>
          <a:ln w="7620">
            <a:solidFill>
              <a:srgbClr val="31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68128" y="4864608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1E2D41"/>
                </a:solidFill>
                <a:latin typeface="Microsoft YaHei"/>
              </a:rPr>
              <a:t>华北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966960" y="5148072"/>
            <a:ext cx="146304" cy="109728"/>
          </a:xfrm>
          <a:prstGeom prst="rect">
            <a:avLst/>
          </a:prstGeom>
          <a:solidFill>
            <a:srgbClr val="B74D40"/>
          </a:solidFill>
          <a:ln w="7620">
            <a:solidFill>
              <a:srgbClr val="B74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68128" y="5120640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1E2D41"/>
                </a:solidFill>
                <a:latin typeface="Microsoft YaHei"/>
              </a:rPr>
              <a:t>华南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966960" y="5404104"/>
            <a:ext cx="146304" cy="109728"/>
          </a:xfrm>
          <a:prstGeom prst="rect">
            <a:avLst/>
          </a:prstGeom>
          <a:solidFill>
            <a:srgbClr val="4E6FA8"/>
          </a:solidFill>
          <a:ln w="7620">
            <a:solidFill>
              <a:srgbClr val="4E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168128" y="5376672"/>
            <a:ext cx="4572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00" b="0">
                <a:solidFill>
                  <a:srgbClr val="1E2D41"/>
                </a:solidFill>
                <a:latin typeface="Microsoft YaHei"/>
              </a:rPr>
              <a:t>华东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E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E6E"/>
          </a:solidFill>
          <a:ln w="7620">
            <a:solidFill>
              <a:srgbClr val="1D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80"/>
          </a:solidFill>
          <a:ln w="7620">
            <a:solidFill>
              <a:srgbClr val="1F4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5508C"/>
          </a:solidFill>
          <a:ln w="7620">
            <a:solidFill>
              <a:srgbClr val="25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83058"/>
          </a:solidFill>
          <a:ln w="7620">
            <a:solidFill>
              <a:srgbClr val="183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35240" y="1234440"/>
            <a:ext cx="420624" cy="2560320"/>
          </a:xfrm>
          <a:prstGeom prst="rect">
            <a:avLst/>
          </a:prstGeom>
          <a:solidFill>
            <a:srgbClr val="3A67A6"/>
          </a:solidFill>
          <a:ln w="7620">
            <a:solidFill>
              <a:srgbClr val="3A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93608" y="1801368"/>
            <a:ext cx="420624" cy="2377439"/>
          </a:xfrm>
          <a:prstGeom prst="rect">
            <a:avLst/>
          </a:prstGeom>
          <a:solidFill>
            <a:srgbClr val="3A67A6"/>
          </a:solidFill>
          <a:ln w="7620">
            <a:solidFill>
              <a:srgbClr val="3A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51976" y="2368296"/>
            <a:ext cx="420624" cy="2194560"/>
          </a:xfrm>
          <a:prstGeom prst="rect">
            <a:avLst/>
          </a:prstGeom>
          <a:solidFill>
            <a:srgbClr val="3A67A6"/>
          </a:solidFill>
          <a:ln w="7620">
            <a:solidFill>
              <a:srgbClr val="3A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10344" y="1234440"/>
            <a:ext cx="420624" cy="2011679"/>
          </a:xfrm>
          <a:prstGeom prst="rect">
            <a:avLst/>
          </a:prstGeom>
          <a:solidFill>
            <a:srgbClr val="3A67A6"/>
          </a:solidFill>
          <a:ln w="7620">
            <a:solidFill>
              <a:srgbClr val="3A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268712" y="1801368"/>
            <a:ext cx="420624" cy="1828799"/>
          </a:xfrm>
          <a:prstGeom prst="rect">
            <a:avLst/>
          </a:prstGeom>
          <a:solidFill>
            <a:srgbClr val="3A67A6"/>
          </a:solidFill>
          <a:ln w="7620">
            <a:solidFill>
              <a:srgbClr val="3A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27080" y="2368296"/>
            <a:ext cx="420624" cy="1645919"/>
          </a:xfrm>
          <a:prstGeom prst="rect">
            <a:avLst/>
          </a:prstGeom>
          <a:solidFill>
            <a:srgbClr val="3A67A6"/>
          </a:solidFill>
          <a:ln w="7620">
            <a:solidFill>
              <a:srgbClr val="3A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85448" y="1234440"/>
            <a:ext cx="420624" cy="1463039"/>
          </a:xfrm>
          <a:prstGeom prst="rect">
            <a:avLst/>
          </a:prstGeom>
          <a:solidFill>
            <a:srgbClr val="3A67A6"/>
          </a:solidFill>
          <a:ln w="7620">
            <a:solidFill>
              <a:srgbClr val="3A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95360" y="2331720"/>
            <a:ext cx="2057400" cy="2057400"/>
          </a:xfrm>
          <a:prstGeom prst="ellipse">
            <a:avLst/>
          </a:prstGeom>
          <a:solidFill>
            <a:srgbClr val="4576B2"/>
          </a:solidFill>
          <a:ln>
            <a:solidFill>
              <a:srgbClr val="6E9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35440" y="2752344"/>
            <a:ext cx="1481328" cy="1481328"/>
          </a:xfrm>
          <a:prstGeom prst="ellipse">
            <a:avLst/>
          </a:prstGeom>
          <a:solidFill>
            <a:srgbClr val="4576B2"/>
          </a:solidFill>
          <a:ln>
            <a:solidFill>
              <a:srgbClr val="6E9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0" y="3172968"/>
            <a:ext cx="960120" cy="960120"/>
          </a:xfrm>
          <a:prstGeom prst="ellipse">
            <a:avLst/>
          </a:prstGeom>
          <a:solidFill>
            <a:srgbClr val="4576B2"/>
          </a:solidFill>
          <a:ln>
            <a:solidFill>
              <a:srgbClr val="6E9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594360" y="4956048"/>
            <a:ext cx="1234440" cy="640080"/>
          </a:xfrm>
          <a:prstGeom prst="line">
            <a:avLst/>
          </a:prstGeom>
          <a:ln w="20320">
            <a:solidFill>
              <a:srgbClr val="79A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011680" y="4700016"/>
            <a:ext cx="1234440" cy="731520"/>
          </a:xfrm>
          <a:prstGeom prst="line">
            <a:avLst/>
          </a:prstGeom>
          <a:ln w="20320">
            <a:solidFill>
              <a:srgbClr val="79A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429000" y="4443983"/>
            <a:ext cx="1234440" cy="822961"/>
          </a:xfrm>
          <a:prstGeom prst="line">
            <a:avLst/>
          </a:prstGeom>
          <a:ln w="20320">
            <a:solidFill>
              <a:srgbClr val="79A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846320" y="4187952"/>
            <a:ext cx="1234440" cy="914400"/>
          </a:xfrm>
          <a:prstGeom prst="line">
            <a:avLst/>
          </a:prstGeom>
          <a:ln w="20320">
            <a:solidFill>
              <a:srgbClr val="79A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263640" y="3931920"/>
            <a:ext cx="1234439" cy="1005840"/>
          </a:xfrm>
          <a:prstGeom prst="line">
            <a:avLst/>
          </a:prstGeom>
          <a:ln w="20320">
            <a:solidFill>
              <a:srgbClr val="79A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1627632"/>
            <a:ext cx="4389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Microsoft YaHei"/>
              </a:rPr>
              <a:t>THANKS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2487168"/>
            <a:ext cx="34747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感谢观看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182112"/>
            <a:ext cx="48463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>
                <a:solidFill>
                  <a:srgbClr val="E2EDF9"/>
                </a:solidFill>
                <a:latin typeface="Microsoft YaHei"/>
              </a:rPr>
              <a:t>以数据驱动决策 · 以图表呈现价值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069080"/>
            <a:ext cx="3931920" cy="676656"/>
          </a:xfrm>
          <a:prstGeom prst="roundRect">
            <a:avLst/>
          </a:prstGeom>
          <a:solidFill>
            <a:srgbClr val="F4F7FB"/>
          </a:solidFill>
          <a:ln w="7620">
            <a:solidFill>
              <a:srgbClr val="C2D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279392"/>
            <a:ext cx="31089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D3E6E"/>
                </a:solidFill>
                <a:latin typeface="Microsoft YaHei"/>
              </a:rPr>
              <a:t>汇报人：陇小七    日期：2024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382512"/>
            <a:ext cx="301752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BCFE8"/>
                </a:solidFill>
                <a:latin typeface="Microsoft YaHei"/>
              </a:rPr>
              <a:t>DATA VISUALIZATION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